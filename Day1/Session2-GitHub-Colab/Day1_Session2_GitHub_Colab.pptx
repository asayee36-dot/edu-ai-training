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image" Target="../media/image-3-6.png"/><Relationship Id="rId7" Type="http://schemas.openxmlformats.org/officeDocument/2006/relationships/image" Target="../media/image-3-7.png"/><Relationship Id="rId8" Type="http://schemas.openxmlformats.org/officeDocument/2006/relationships/image" Target="../media/image-3-8.pn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image" Target="../media/image-9-5.png"/><Relationship Id="rId6" Type="http://schemas.openxmlformats.org/officeDocument/2006/relationships/image" Target="../media/image-9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-2377440"/>
            <a:ext cx="6583680" cy="6583680"/>
          </a:xfrm>
          <a:prstGeom prst="ellipse">
            <a:avLst/>
          </a:prstGeom>
          <a:solidFill>
            <a:srgbClr val="2A3A8C">
              <a:alpha val="6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2011680" y="4480560"/>
            <a:ext cx="5486400" cy="5486400"/>
          </a:xfrm>
          <a:prstGeom prst="ellipse">
            <a:avLst/>
          </a:prstGeom>
          <a:solidFill>
            <a:srgbClr val="2A3A8C">
              <a:alpha val="45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777240" y="868680"/>
            <a:ext cx="960120" cy="960120"/>
          </a:xfrm>
          <a:prstGeom prst="ellipse">
            <a:avLst/>
          </a:prstGeom>
          <a:solidFill>
            <a:srgbClr val="F96167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26871" y="1118311"/>
            <a:ext cx="460858" cy="46085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777240" y="2103120"/>
            <a:ext cx="10607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spc="30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LAB TRAINING  •  DAY 1  •  SESSION 2  •  10:45 – 12:45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749808" y="2606040"/>
            <a:ext cx="1078992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GitHub &amp; Google Colab</a:t>
            </a:r>
            <a:endParaRPr lang="en-US" sz="4600" dirty="0"/>
          </a:p>
        </p:txBody>
      </p:sp>
      <p:sp>
        <p:nvSpPr>
          <p:cNvPr id="8" name="Text 5"/>
          <p:cNvSpPr/>
          <p:nvPr/>
        </p:nvSpPr>
        <p:spPr>
          <a:xfrm>
            <a:off x="777240" y="4434840"/>
            <a:ext cx="102412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collaboration backbone of every AI team — account, repository, your first dataset commit, cloning into VS Code, and your first notebook running in the cloud.</a:t>
            </a:r>
            <a:endParaRPr lang="en-US" sz="1700" dirty="0"/>
          </a:p>
        </p:txBody>
      </p:sp>
      <p:sp>
        <p:nvSpPr>
          <p:cNvPr id="9" name="Text 6"/>
          <p:cNvSpPr/>
          <p:nvPr/>
        </p:nvSpPr>
        <p:spPr>
          <a:xfrm>
            <a:off x="777240" y="5897880"/>
            <a:ext cx="10515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9FB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Ethiopian Defense University — Day 1, Session 2 of 4  •  2 hours  •  5 hands-on labs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110642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2 • OBJECTIVES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1064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This Session Covers — and What You Walk Away With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508760"/>
            <a:ext cx="5440680" cy="4846320"/>
          </a:xfrm>
          <a:prstGeom prst="roundRect">
            <a:avLst>
              <a:gd name="adj" fmla="val 1887"/>
            </a:avLst>
          </a:prstGeom>
          <a:solidFill>
            <a:srgbClr val="EAF0FB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77240" y="1737360"/>
            <a:ext cx="502920" cy="50292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07999" y="1868119"/>
            <a:ext cx="241402" cy="24140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417320" y="1737360"/>
            <a:ext cx="4389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will cover</a:t>
            </a:r>
            <a:endParaRPr lang="en-US" sz="1700" dirty="0"/>
          </a:p>
        </p:txBody>
      </p:sp>
      <p:sp>
        <p:nvSpPr>
          <p:cNvPr id="8" name="Text 5"/>
          <p:cNvSpPr/>
          <p:nvPr/>
        </p:nvSpPr>
        <p:spPr>
          <a:xfrm>
            <a:off x="868680" y="2423160"/>
            <a:ext cx="4892040" cy="3749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100"/>
              </a:spcAft>
              <a:buSzPct val="100000"/>
              <a:buChar char="•"/>
            </a:pPr>
            <a:r>
              <a:rPr lang="en-US" sz="13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Git and GitHub are, and why every AI team depends on them</a:t>
            </a:r>
            <a:endParaRPr lang="en-US" sz="1350" dirty="0"/>
          </a:p>
          <a:p>
            <a:pPr marL="342900" indent="-342900">
              <a:spcAft>
                <a:spcPts val="1100"/>
              </a:spcAft>
              <a:buSzPct val="100000"/>
              <a:buChar char="•"/>
            </a:pPr>
            <a:r>
              <a:rPr lang="en-US" sz="13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core actions: commit, clone, pull, push, branch, pull request</a:t>
            </a:r>
            <a:endParaRPr lang="en-US" sz="1350" dirty="0"/>
          </a:p>
          <a:p>
            <a:pPr marL="342900" indent="-342900">
              <a:spcAft>
                <a:spcPts val="1100"/>
              </a:spcAft>
              <a:buSzPct val="100000"/>
              <a:buChar char="•"/>
            </a:pPr>
            <a:r>
              <a:rPr lang="en-US" sz="13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to create a repository and add data to it through the browser</a:t>
            </a:r>
            <a:endParaRPr lang="en-US" sz="1350" dirty="0"/>
          </a:p>
          <a:p>
            <a:pPr marL="342900" indent="-342900">
              <a:spcAft>
                <a:spcPts val="1100"/>
              </a:spcAft>
              <a:buSzPct val="100000"/>
              <a:buChar char="•"/>
            </a:pPr>
            <a:r>
              <a:rPr lang="en-US" sz="13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to install Git and VS Code, and clone a repository onto your machine</a:t>
            </a:r>
            <a:endParaRPr lang="en-US" sz="1350" dirty="0"/>
          </a:p>
          <a:p>
            <a:pPr marL="342900" indent="-342900">
              <a:spcAft>
                <a:spcPts val="1100"/>
              </a:spcAft>
              <a:buSzPct val="100000"/>
              <a:buChar char="•"/>
            </a:pPr>
            <a:r>
              <a:rPr lang="en-US" sz="13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Colab as a free cloud notebook — including free GPU access</a:t>
            </a:r>
            <a:endParaRPr lang="en-US" sz="1350" dirty="0"/>
          </a:p>
        </p:txBody>
      </p:sp>
      <p:sp>
        <p:nvSpPr>
          <p:cNvPr id="9" name="Shape 6"/>
          <p:cNvSpPr/>
          <p:nvPr/>
        </p:nvSpPr>
        <p:spPr>
          <a:xfrm>
            <a:off x="6199632" y="1508760"/>
            <a:ext cx="5440680" cy="4846320"/>
          </a:xfrm>
          <a:prstGeom prst="roundRect">
            <a:avLst>
              <a:gd name="adj" fmla="val 1887"/>
            </a:avLst>
          </a:prstGeom>
          <a:solidFill>
            <a:srgbClr val="1E2761"/>
          </a:solidFill>
          <a:ln/>
        </p:spPr>
      </p:sp>
      <p:sp>
        <p:nvSpPr>
          <p:cNvPr id="10" name="Shape 7"/>
          <p:cNvSpPr/>
          <p:nvPr/>
        </p:nvSpPr>
        <p:spPr>
          <a:xfrm>
            <a:off x="6428232" y="1737360"/>
            <a:ext cx="502920" cy="502920"/>
          </a:xfrm>
          <a:prstGeom prst="ellipse">
            <a:avLst/>
          </a:prstGeom>
          <a:solidFill>
            <a:srgbClr val="F96167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58991" y="1868119"/>
            <a:ext cx="241402" cy="241402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7068312" y="1737360"/>
            <a:ext cx="4480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will be able to</a:t>
            </a:r>
            <a:endParaRPr lang="en-US" sz="1700" dirty="0"/>
          </a:p>
        </p:txBody>
      </p:sp>
      <p:sp>
        <p:nvSpPr>
          <p:cNvPr id="13" name="Text 9"/>
          <p:cNvSpPr/>
          <p:nvPr/>
        </p:nvSpPr>
        <p:spPr>
          <a:xfrm>
            <a:off x="6519672" y="2423160"/>
            <a:ext cx="4892040" cy="3749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100"/>
              </a:spcAft>
              <a:buSzPct val="100000"/>
              <a:buChar char="•"/>
            </a:pPr>
            <a:r>
              <a:rPr lang="en-US" sz="13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a GitHub account and a public repository of your own</a:t>
            </a:r>
            <a:endParaRPr lang="en-US" sz="1350" dirty="0"/>
          </a:p>
          <a:p>
            <a:pPr marL="342900" indent="-342900">
              <a:spcAft>
                <a:spcPts val="1100"/>
              </a:spcAft>
              <a:buSzPct val="100000"/>
              <a:buChar char="•"/>
            </a:pPr>
            <a:r>
              <a:rPr lang="en-US" sz="13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Commit a CSV dataset and see it rendered as a table on GitHub</a:t>
            </a:r>
            <a:endParaRPr lang="en-US" sz="1350" dirty="0"/>
          </a:p>
          <a:p>
            <a:pPr marL="342900" indent="-342900">
              <a:spcAft>
                <a:spcPts val="1100"/>
              </a:spcAft>
              <a:buSzPct val="100000"/>
              <a:buChar char="•"/>
            </a:pPr>
            <a:r>
              <a:rPr lang="en-US" sz="13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Clone both the course repo and your own repo into VS Code</a:t>
            </a:r>
            <a:endParaRPr lang="en-US" sz="1350" dirty="0"/>
          </a:p>
          <a:p>
            <a:pPr marL="342900" indent="-342900">
              <a:spcAft>
                <a:spcPts val="1100"/>
              </a:spcAft>
              <a:buSzPct val="100000"/>
              <a:buChar char="•"/>
            </a:pPr>
            <a:r>
              <a:rPr lang="en-US" sz="13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a Colab notebook end to end and switch it onto a GPU runtime</a:t>
            </a:r>
            <a:endParaRPr lang="en-US" sz="1350" dirty="0"/>
          </a:p>
          <a:p>
            <a:pPr marL="342900" indent="-342900">
              <a:spcAft>
                <a:spcPts val="1100"/>
              </a:spcAft>
              <a:buSzPct val="100000"/>
              <a:buChar char="•"/>
            </a:pPr>
            <a:r>
              <a:rPr lang="en-US" sz="13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 a dataset straight from GitHub into a notebook with pandas</a:t>
            </a:r>
            <a:endParaRPr lang="en-US" sz="13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110642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2 • VOCABULARY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1064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GitHub in Eight Words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508760"/>
            <a:ext cx="2580894" cy="2286000"/>
          </a:xfrm>
          <a:prstGeom prst="roundRect">
            <a:avLst>
              <a:gd name="adj" fmla="val 3200"/>
            </a:avLst>
          </a:prstGeom>
          <a:solidFill>
            <a:srgbClr val="EAF0FB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13232" y="1673352"/>
            <a:ext cx="457200" cy="45720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32104" y="1792224"/>
            <a:ext cx="219456" cy="219456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280160" y="1655064"/>
            <a:ext cx="171221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749808" y="2221992"/>
            <a:ext cx="2178558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A5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Version control — an unlimited, shared 'undo history' for your files.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3385566" y="1508760"/>
            <a:ext cx="2580894" cy="2286000"/>
          </a:xfrm>
          <a:prstGeom prst="roundRect">
            <a:avLst>
              <a:gd name="adj" fmla="val 3200"/>
            </a:avLst>
          </a:prstGeom>
          <a:solidFill>
            <a:srgbClr val="EAF0FB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3550158" y="1673352"/>
            <a:ext cx="457200" cy="45720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69030" y="1792224"/>
            <a:ext cx="219456" cy="219456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117086" y="1655064"/>
            <a:ext cx="171221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</a:t>
            </a:r>
            <a:endParaRPr lang="en-US" sz="1500" dirty="0"/>
          </a:p>
        </p:txBody>
      </p:sp>
      <p:sp>
        <p:nvSpPr>
          <p:cNvPr id="13" name="Text 9"/>
          <p:cNvSpPr/>
          <p:nvPr/>
        </p:nvSpPr>
        <p:spPr>
          <a:xfrm>
            <a:off x="3586734" y="2221992"/>
            <a:ext cx="2178558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A5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website that stores Git repositories online. 'Google Drive for code, with history.'</a:t>
            </a:r>
            <a:endParaRPr lang="en-US" sz="1150" dirty="0"/>
          </a:p>
        </p:txBody>
      </p:sp>
      <p:sp>
        <p:nvSpPr>
          <p:cNvPr id="14" name="Shape 10"/>
          <p:cNvSpPr/>
          <p:nvPr/>
        </p:nvSpPr>
        <p:spPr>
          <a:xfrm>
            <a:off x="6222492" y="1508760"/>
            <a:ext cx="2580894" cy="2286000"/>
          </a:xfrm>
          <a:prstGeom prst="roundRect">
            <a:avLst>
              <a:gd name="adj" fmla="val 3200"/>
            </a:avLst>
          </a:prstGeom>
          <a:solidFill>
            <a:srgbClr val="EAF0FB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6387084" y="1673352"/>
            <a:ext cx="457200" cy="45720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05956" y="1792224"/>
            <a:ext cx="219456" cy="219456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6954012" y="1655064"/>
            <a:ext cx="171221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Repository</a:t>
            </a:r>
            <a:endParaRPr lang="en-US" sz="1500" dirty="0"/>
          </a:p>
        </p:txBody>
      </p:sp>
      <p:sp>
        <p:nvSpPr>
          <p:cNvPr id="18" name="Text 13"/>
          <p:cNvSpPr/>
          <p:nvPr/>
        </p:nvSpPr>
        <p:spPr>
          <a:xfrm>
            <a:off x="6423660" y="2221992"/>
            <a:ext cx="2178558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A5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project folder tracked by Git — code, data, and every change ever made.</a:t>
            </a:r>
            <a:endParaRPr lang="en-US" sz="1150" dirty="0"/>
          </a:p>
        </p:txBody>
      </p:sp>
      <p:sp>
        <p:nvSpPr>
          <p:cNvPr id="19" name="Shape 14"/>
          <p:cNvSpPr/>
          <p:nvPr/>
        </p:nvSpPr>
        <p:spPr>
          <a:xfrm>
            <a:off x="9059418" y="1508760"/>
            <a:ext cx="2580894" cy="2286000"/>
          </a:xfrm>
          <a:prstGeom prst="roundRect">
            <a:avLst>
              <a:gd name="adj" fmla="val 3200"/>
            </a:avLst>
          </a:prstGeom>
          <a:solidFill>
            <a:srgbClr val="EAF0FB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20" name="Shape 15"/>
          <p:cNvSpPr/>
          <p:nvPr/>
        </p:nvSpPr>
        <p:spPr>
          <a:xfrm>
            <a:off x="9224010" y="1673352"/>
            <a:ext cx="457200" cy="45720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342882" y="1792224"/>
            <a:ext cx="219456" cy="219456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9790938" y="1655064"/>
            <a:ext cx="171221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Commit</a:t>
            </a:r>
            <a:endParaRPr lang="en-US" sz="1500" dirty="0"/>
          </a:p>
        </p:txBody>
      </p:sp>
      <p:sp>
        <p:nvSpPr>
          <p:cNvPr id="23" name="Text 17"/>
          <p:cNvSpPr/>
          <p:nvPr/>
        </p:nvSpPr>
        <p:spPr>
          <a:xfrm>
            <a:off x="9260586" y="2221992"/>
            <a:ext cx="2178558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A5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saved snapshot of your changes, with a short message describing them.</a:t>
            </a:r>
            <a:endParaRPr lang="en-US" sz="1150" dirty="0"/>
          </a:p>
        </p:txBody>
      </p:sp>
      <p:sp>
        <p:nvSpPr>
          <p:cNvPr id="24" name="Shape 18"/>
          <p:cNvSpPr/>
          <p:nvPr/>
        </p:nvSpPr>
        <p:spPr>
          <a:xfrm>
            <a:off x="548640" y="4050792"/>
            <a:ext cx="2580894" cy="2286000"/>
          </a:xfrm>
          <a:prstGeom prst="roundRect">
            <a:avLst>
              <a:gd name="adj" fmla="val 3200"/>
            </a:avLst>
          </a:prstGeom>
          <a:solidFill>
            <a:srgbClr val="EAF0FB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25" name="Shape 19"/>
          <p:cNvSpPr/>
          <p:nvPr/>
        </p:nvSpPr>
        <p:spPr>
          <a:xfrm>
            <a:off x="713232" y="4215384"/>
            <a:ext cx="457200" cy="45720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2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32104" y="4334256"/>
            <a:ext cx="219456" cy="219456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1280160" y="4197096"/>
            <a:ext cx="171221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Clone / Pull</a:t>
            </a:r>
            <a:endParaRPr lang="en-US" sz="1500" dirty="0"/>
          </a:p>
        </p:txBody>
      </p:sp>
      <p:sp>
        <p:nvSpPr>
          <p:cNvPr id="28" name="Text 21"/>
          <p:cNvSpPr/>
          <p:nvPr/>
        </p:nvSpPr>
        <p:spPr>
          <a:xfrm>
            <a:off x="749808" y="4764024"/>
            <a:ext cx="2178558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A5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Clone: download a full copy of a repo. Pull: fetch the latest changes.</a:t>
            </a:r>
            <a:endParaRPr lang="en-US" sz="1150" dirty="0"/>
          </a:p>
        </p:txBody>
      </p:sp>
      <p:sp>
        <p:nvSpPr>
          <p:cNvPr id="29" name="Shape 22"/>
          <p:cNvSpPr/>
          <p:nvPr/>
        </p:nvSpPr>
        <p:spPr>
          <a:xfrm>
            <a:off x="3385566" y="4050792"/>
            <a:ext cx="2580894" cy="2286000"/>
          </a:xfrm>
          <a:prstGeom prst="roundRect">
            <a:avLst>
              <a:gd name="adj" fmla="val 3200"/>
            </a:avLst>
          </a:prstGeom>
          <a:solidFill>
            <a:srgbClr val="EAF0FB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30" name="Shape 23"/>
          <p:cNvSpPr/>
          <p:nvPr/>
        </p:nvSpPr>
        <p:spPr>
          <a:xfrm>
            <a:off x="3550158" y="4215384"/>
            <a:ext cx="457200" cy="45720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31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669030" y="4334256"/>
            <a:ext cx="219456" cy="219456"/>
          </a:xfrm>
          <a:prstGeom prst="rect">
            <a:avLst/>
          </a:prstGeom>
        </p:spPr>
      </p:pic>
      <p:sp>
        <p:nvSpPr>
          <p:cNvPr id="32" name="Text 24"/>
          <p:cNvSpPr/>
          <p:nvPr/>
        </p:nvSpPr>
        <p:spPr>
          <a:xfrm>
            <a:off x="4117086" y="4197096"/>
            <a:ext cx="171221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Push</a:t>
            </a:r>
            <a:endParaRPr lang="en-US" sz="1500" dirty="0"/>
          </a:p>
        </p:txBody>
      </p:sp>
      <p:sp>
        <p:nvSpPr>
          <p:cNvPr id="33" name="Text 25"/>
          <p:cNvSpPr/>
          <p:nvPr/>
        </p:nvSpPr>
        <p:spPr>
          <a:xfrm>
            <a:off x="3586734" y="4764024"/>
            <a:ext cx="2178558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A5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Upload your local commits back to GitHub for everyone to see.</a:t>
            </a:r>
            <a:endParaRPr lang="en-US" sz="1150" dirty="0"/>
          </a:p>
        </p:txBody>
      </p:sp>
      <p:sp>
        <p:nvSpPr>
          <p:cNvPr id="34" name="Shape 26"/>
          <p:cNvSpPr/>
          <p:nvPr/>
        </p:nvSpPr>
        <p:spPr>
          <a:xfrm>
            <a:off x="6222492" y="4050792"/>
            <a:ext cx="2580894" cy="2286000"/>
          </a:xfrm>
          <a:prstGeom prst="roundRect">
            <a:avLst>
              <a:gd name="adj" fmla="val 3200"/>
            </a:avLst>
          </a:prstGeom>
          <a:solidFill>
            <a:srgbClr val="EAF0FB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35" name="Shape 27"/>
          <p:cNvSpPr/>
          <p:nvPr/>
        </p:nvSpPr>
        <p:spPr>
          <a:xfrm>
            <a:off x="6387084" y="4215384"/>
            <a:ext cx="457200" cy="45720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36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505956" y="4334256"/>
            <a:ext cx="219456" cy="219456"/>
          </a:xfrm>
          <a:prstGeom prst="rect">
            <a:avLst/>
          </a:prstGeom>
        </p:spPr>
      </p:pic>
      <p:sp>
        <p:nvSpPr>
          <p:cNvPr id="37" name="Text 28"/>
          <p:cNvSpPr/>
          <p:nvPr/>
        </p:nvSpPr>
        <p:spPr>
          <a:xfrm>
            <a:off x="6954012" y="4197096"/>
            <a:ext cx="171221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Branch</a:t>
            </a:r>
            <a:endParaRPr lang="en-US" sz="1500" dirty="0"/>
          </a:p>
        </p:txBody>
      </p:sp>
      <p:sp>
        <p:nvSpPr>
          <p:cNvPr id="38" name="Text 29"/>
          <p:cNvSpPr/>
          <p:nvPr/>
        </p:nvSpPr>
        <p:spPr>
          <a:xfrm>
            <a:off x="6423660" y="4764024"/>
            <a:ext cx="2178558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A5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parallel line of work, so experiments never break the main version.</a:t>
            </a:r>
            <a:endParaRPr lang="en-US" sz="1150" dirty="0"/>
          </a:p>
        </p:txBody>
      </p:sp>
      <p:sp>
        <p:nvSpPr>
          <p:cNvPr id="39" name="Shape 30"/>
          <p:cNvSpPr/>
          <p:nvPr/>
        </p:nvSpPr>
        <p:spPr>
          <a:xfrm>
            <a:off x="9059418" y="4050792"/>
            <a:ext cx="2580894" cy="2286000"/>
          </a:xfrm>
          <a:prstGeom prst="roundRect">
            <a:avLst>
              <a:gd name="adj" fmla="val 3200"/>
            </a:avLst>
          </a:prstGeom>
          <a:solidFill>
            <a:srgbClr val="EAF0FB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40" name="Shape 31"/>
          <p:cNvSpPr/>
          <p:nvPr/>
        </p:nvSpPr>
        <p:spPr>
          <a:xfrm>
            <a:off x="9224010" y="4215384"/>
            <a:ext cx="457200" cy="45720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41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342882" y="4334256"/>
            <a:ext cx="219456" cy="219456"/>
          </a:xfrm>
          <a:prstGeom prst="rect">
            <a:avLst/>
          </a:prstGeom>
        </p:spPr>
      </p:pic>
      <p:sp>
        <p:nvSpPr>
          <p:cNvPr id="42" name="Text 32"/>
          <p:cNvSpPr/>
          <p:nvPr/>
        </p:nvSpPr>
        <p:spPr>
          <a:xfrm>
            <a:off x="9790938" y="4197096"/>
            <a:ext cx="171221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Pull Request</a:t>
            </a:r>
            <a:endParaRPr lang="en-US" sz="1500" dirty="0"/>
          </a:p>
        </p:txBody>
      </p:sp>
      <p:sp>
        <p:nvSpPr>
          <p:cNvPr id="43" name="Text 33"/>
          <p:cNvSpPr/>
          <p:nvPr/>
        </p:nvSpPr>
        <p:spPr>
          <a:xfrm>
            <a:off x="9260586" y="4764024"/>
            <a:ext cx="2178558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A5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'Please merge my branch' — where teammates review your work.</a:t>
            </a:r>
            <a:endParaRPr lang="en-US" sz="11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110642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2 • THE MAP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1064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Today's End-to-End Workflow</a:t>
            </a:r>
            <a:endParaRPr lang="en-US" sz="3200" dirty="0"/>
          </a:p>
        </p:txBody>
      </p:sp>
      <p:pic>
        <p:nvPicPr>
          <p:cNvPr id="4" name="Image 0" descr="workflow_slid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1783080"/>
            <a:ext cx="10607040" cy="3255264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777240" y="548640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session covers steps 1–3.  </a:t>
            </a:r>
            <a:pPr algn="ctr" indent="0" marL="0">
              <a:buNone/>
            </a:pPr>
            <a:r>
              <a:rPr lang="en-US" sz="1500" dirty="0">
                <a:solidFill>
                  <a:srgbClr val="5A5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4 finishes with steps 4–6 — by 16:30 you will have walked this entire path yourself.</a:t>
            </a:r>
            <a:endParaRPr lang="en-US" sz="15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110642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2 • HANDS-ON (20 MIN)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1064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Lab A &amp; B: Account + First Repository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508760"/>
            <a:ext cx="5440680" cy="4892040"/>
          </a:xfrm>
          <a:prstGeom prst="roundRect">
            <a:avLst>
              <a:gd name="adj" fmla="val 1869"/>
            </a:avLst>
          </a:prstGeom>
          <a:solidFill>
            <a:srgbClr val="EAF0FB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1691640"/>
            <a:ext cx="4937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— Create your GitHub account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868680" y="2482596"/>
            <a:ext cx="384048" cy="384048"/>
          </a:xfrm>
          <a:prstGeom prst="ellipse">
            <a:avLst/>
          </a:prstGeom>
          <a:solidFill>
            <a:srgbClr val="F96167"/>
          </a:solidFill>
          <a:ln/>
        </p:spPr>
      </p:sp>
      <p:sp>
        <p:nvSpPr>
          <p:cNvPr id="7" name="Text 5"/>
          <p:cNvSpPr/>
          <p:nvPr/>
        </p:nvSpPr>
        <p:spPr>
          <a:xfrm>
            <a:off x="868680" y="248259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435608" y="2240280"/>
            <a:ext cx="437083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 to github.com and click Sign up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868680" y="3515868"/>
            <a:ext cx="384048" cy="384048"/>
          </a:xfrm>
          <a:prstGeom prst="ellipse">
            <a:avLst/>
          </a:prstGeom>
          <a:solidFill>
            <a:srgbClr val="F96167"/>
          </a:solidFill>
          <a:ln/>
        </p:spPr>
      </p:sp>
      <p:sp>
        <p:nvSpPr>
          <p:cNvPr id="10" name="Text 8"/>
          <p:cNvSpPr/>
          <p:nvPr/>
        </p:nvSpPr>
        <p:spPr>
          <a:xfrm>
            <a:off x="868680" y="351586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1435608" y="3273552"/>
            <a:ext cx="437083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Choose a username like firstname-lastname-edu — write it down, you'll use it all week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868680" y="4549140"/>
            <a:ext cx="384048" cy="384048"/>
          </a:xfrm>
          <a:prstGeom prst="ellipse">
            <a:avLst/>
          </a:prstGeom>
          <a:solidFill>
            <a:srgbClr val="F96167"/>
          </a:solidFill>
          <a:ln/>
        </p:spPr>
      </p:sp>
      <p:sp>
        <p:nvSpPr>
          <p:cNvPr id="13" name="Text 11"/>
          <p:cNvSpPr/>
          <p:nvPr/>
        </p:nvSpPr>
        <p:spPr>
          <a:xfrm>
            <a:off x="868680" y="45491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1435608" y="4306824"/>
            <a:ext cx="437083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Verify your email with the launch code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868680" y="5582412"/>
            <a:ext cx="384048" cy="384048"/>
          </a:xfrm>
          <a:prstGeom prst="ellipse">
            <a:avLst/>
          </a:prstGeom>
          <a:solidFill>
            <a:srgbClr val="F96167"/>
          </a:solidFill>
          <a:ln/>
        </p:spPr>
      </p:sp>
      <p:sp>
        <p:nvSpPr>
          <p:cNvPr id="16" name="Text 14"/>
          <p:cNvSpPr/>
          <p:nvPr/>
        </p:nvSpPr>
        <p:spPr>
          <a:xfrm>
            <a:off x="868680" y="558241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1435608" y="5340096"/>
            <a:ext cx="437083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Choose the Free plan — done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6199632" y="1508760"/>
            <a:ext cx="5440680" cy="4892040"/>
          </a:xfrm>
          <a:prstGeom prst="roundRect">
            <a:avLst>
              <a:gd name="adj" fmla="val 1869"/>
            </a:avLst>
          </a:prstGeom>
          <a:solidFill>
            <a:srgbClr val="EAF0FB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473952" y="1691640"/>
            <a:ext cx="4937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 — Create your first repository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6519672" y="2482596"/>
            <a:ext cx="384048" cy="384048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21" name="Text 19"/>
          <p:cNvSpPr/>
          <p:nvPr/>
        </p:nvSpPr>
        <p:spPr>
          <a:xfrm>
            <a:off x="6519672" y="248259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7086600" y="2240280"/>
            <a:ext cx="437083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Click the + icon (top-right) → New repository</a:t>
            </a:r>
            <a:endParaRPr lang="en-US" sz="1250" dirty="0"/>
          </a:p>
        </p:txBody>
      </p:sp>
      <p:sp>
        <p:nvSpPr>
          <p:cNvPr id="23" name="Shape 21"/>
          <p:cNvSpPr/>
          <p:nvPr/>
        </p:nvSpPr>
        <p:spPr>
          <a:xfrm>
            <a:off x="6519672" y="3515868"/>
            <a:ext cx="384048" cy="384048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24" name="Text 22"/>
          <p:cNvSpPr/>
          <p:nvPr/>
        </p:nvSpPr>
        <p:spPr>
          <a:xfrm>
            <a:off x="6519672" y="351586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7086600" y="3273552"/>
            <a:ext cx="437083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 it my-first-ai-lab</a:t>
            </a:r>
            <a:endParaRPr lang="en-US" sz="1250" dirty="0"/>
          </a:p>
        </p:txBody>
      </p:sp>
      <p:sp>
        <p:nvSpPr>
          <p:cNvPr id="26" name="Shape 24"/>
          <p:cNvSpPr/>
          <p:nvPr/>
        </p:nvSpPr>
        <p:spPr>
          <a:xfrm>
            <a:off x="6519672" y="4549140"/>
            <a:ext cx="384048" cy="384048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27" name="Text 25"/>
          <p:cNvSpPr/>
          <p:nvPr/>
        </p:nvSpPr>
        <p:spPr>
          <a:xfrm>
            <a:off x="6519672" y="45491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28" name="Text 26"/>
          <p:cNvSpPr/>
          <p:nvPr/>
        </p:nvSpPr>
        <p:spPr>
          <a:xfrm>
            <a:off x="7086600" y="4306824"/>
            <a:ext cx="437083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 Public and tick “Add a README file”</a:t>
            </a:r>
            <a:endParaRPr lang="en-US" sz="1250" dirty="0"/>
          </a:p>
        </p:txBody>
      </p:sp>
      <p:sp>
        <p:nvSpPr>
          <p:cNvPr id="29" name="Shape 27"/>
          <p:cNvSpPr/>
          <p:nvPr/>
        </p:nvSpPr>
        <p:spPr>
          <a:xfrm>
            <a:off x="6519672" y="5582412"/>
            <a:ext cx="384048" cy="384048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30" name="Text 28"/>
          <p:cNvSpPr/>
          <p:nvPr/>
        </p:nvSpPr>
        <p:spPr>
          <a:xfrm>
            <a:off x="6519672" y="558241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500" dirty="0"/>
          </a:p>
        </p:txBody>
      </p:sp>
      <p:sp>
        <p:nvSpPr>
          <p:cNvPr id="31" name="Text 29"/>
          <p:cNvSpPr/>
          <p:nvPr/>
        </p:nvSpPr>
        <p:spPr>
          <a:xfrm>
            <a:off x="7086600" y="5340096"/>
            <a:ext cx="437083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Click Create repository — this page is now your project's home</a:t>
            </a:r>
            <a:endParaRPr lang="en-US" sz="12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110642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2 • HANDS-ON (15 MIN)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1064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Lab C: Commit Your First Dataset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856232"/>
            <a:ext cx="384048" cy="384048"/>
          </a:xfrm>
          <a:prstGeom prst="ellipse">
            <a:avLst/>
          </a:prstGeom>
          <a:solidFill>
            <a:srgbClr val="F96167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85623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1115568" y="1691640"/>
            <a:ext cx="501091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your repo: Add file → Create new file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548640" y="2734056"/>
            <a:ext cx="384048" cy="384048"/>
          </a:xfrm>
          <a:prstGeom prst="ellipse">
            <a:avLst/>
          </a:prstGeom>
          <a:solidFill>
            <a:srgbClr val="F96167"/>
          </a:solidFill>
          <a:ln/>
        </p:spPr>
      </p:sp>
      <p:sp>
        <p:nvSpPr>
          <p:cNvPr id="8" name="Text 6"/>
          <p:cNvSpPr/>
          <p:nvPr/>
        </p:nvSpPr>
        <p:spPr>
          <a:xfrm>
            <a:off x="548640" y="273405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1115568" y="2569464"/>
            <a:ext cx="501091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 it data/soldiers_fitness.csv — the slash creates the folder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548640" y="3611880"/>
            <a:ext cx="384048" cy="384048"/>
          </a:xfrm>
          <a:prstGeom prst="ellipse">
            <a:avLst/>
          </a:prstGeom>
          <a:solidFill>
            <a:srgbClr val="F96167"/>
          </a:solidFill>
          <a:ln/>
        </p:spPr>
      </p:sp>
      <p:sp>
        <p:nvSpPr>
          <p:cNvPr id="11" name="Text 9"/>
          <p:cNvSpPr/>
          <p:nvPr/>
        </p:nvSpPr>
        <p:spPr>
          <a:xfrm>
            <a:off x="548640" y="36118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1115568" y="3447288"/>
            <a:ext cx="501091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Paste the dataset (right) into the editor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548640" y="4489704"/>
            <a:ext cx="384048" cy="384048"/>
          </a:xfrm>
          <a:prstGeom prst="ellipse">
            <a:avLst/>
          </a:prstGeom>
          <a:solidFill>
            <a:srgbClr val="F96167"/>
          </a:solidFill>
          <a:ln/>
        </p:spPr>
      </p:sp>
      <p:sp>
        <p:nvSpPr>
          <p:cNvPr id="14" name="Text 12"/>
          <p:cNvSpPr/>
          <p:nvPr/>
        </p:nvSpPr>
        <p:spPr>
          <a:xfrm>
            <a:off x="548640" y="448970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1115568" y="4325112"/>
            <a:ext cx="501091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Commit changes with message: “Add fitness dataset”</a:t>
            </a:r>
            <a:endParaRPr lang="en-US" sz="1350" dirty="0"/>
          </a:p>
        </p:txBody>
      </p:sp>
      <p:sp>
        <p:nvSpPr>
          <p:cNvPr id="16" name="Shape 14"/>
          <p:cNvSpPr/>
          <p:nvPr/>
        </p:nvSpPr>
        <p:spPr>
          <a:xfrm>
            <a:off x="548640" y="5367528"/>
            <a:ext cx="384048" cy="384048"/>
          </a:xfrm>
          <a:prstGeom prst="ellipse">
            <a:avLst/>
          </a:prstGeom>
          <a:solidFill>
            <a:srgbClr val="F96167"/>
          </a:solidFill>
          <a:ln/>
        </p:spPr>
      </p:sp>
      <p:sp>
        <p:nvSpPr>
          <p:cNvPr id="17" name="Text 15"/>
          <p:cNvSpPr/>
          <p:nvPr/>
        </p:nvSpPr>
        <p:spPr>
          <a:xfrm>
            <a:off x="548640" y="536752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1115568" y="5202936"/>
            <a:ext cx="501091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the file — GitHub shows your CSV as a table</a:t>
            </a:r>
            <a:endParaRPr lang="en-US" sz="1350" dirty="0"/>
          </a:p>
        </p:txBody>
      </p:sp>
      <p:sp>
        <p:nvSpPr>
          <p:cNvPr id="19" name="Shape 17"/>
          <p:cNvSpPr/>
          <p:nvPr/>
        </p:nvSpPr>
        <p:spPr>
          <a:xfrm>
            <a:off x="6400800" y="1691640"/>
            <a:ext cx="5212080" cy="2377440"/>
          </a:xfrm>
          <a:prstGeom prst="roundRect">
            <a:avLst>
              <a:gd name="adj" fmla="val 2308"/>
            </a:avLst>
          </a:prstGeom>
          <a:solidFill>
            <a:srgbClr val="F2F3F7"/>
          </a:solidFill>
          <a:ln w="12700">
            <a:solidFill>
              <a:srgbClr val="D8DBE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583680" y="1801368"/>
            <a:ext cx="4846320" cy="21579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2327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id,age,pushups_per_min,run_5km_minutes,fitness_level</a:t>
            </a:r>
            <a:endParaRPr lang="en-US" sz="11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2327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1,22,45,24,high</a:t>
            </a:r>
            <a:endParaRPr lang="en-US" sz="11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2327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2,31,30,29,medium</a:t>
            </a:r>
            <a:endParaRPr lang="en-US" sz="11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2327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3,27,52,22,high</a:t>
            </a:r>
            <a:endParaRPr lang="en-US" sz="11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2327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4,38,18,35,low</a:t>
            </a:r>
            <a:endParaRPr lang="en-US" sz="11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2327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5,25,40,26,medium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6400800" y="4343400"/>
            <a:ext cx="5212080" cy="1965960"/>
          </a:xfrm>
          <a:prstGeom prst="roundRect">
            <a:avLst>
              <a:gd name="adj" fmla="val 3721"/>
            </a:avLst>
          </a:prstGeom>
          <a:solidFill>
            <a:srgbClr val="1E2761"/>
          </a:solidFill>
          <a:ln/>
        </p:spPr>
      </p:sp>
      <p:sp>
        <p:nvSpPr>
          <p:cNvPr id="22" name="Shape 20"/>
          <p:cNvSpPr/>
          <p:nvPr/>
        </p:nvSpPr>
        <p:spPr>
          <a:xfrm>
            <a:off x="6629400" y="4572000"/>
            <a:ext cx="502920" cy="502920"/>
          </a:xfrm>
          <a:prstGeom prst="ellipse">
            <a:avLst/>
          </a:prstGeom>
          <a:solidFill>
            <a:srgbClr val="F96167"/>
          </a:solidFill>
          <a:ln/>
        </p:spPr>
      </p:sp>
      <p:pic>
        <p:nvPicPr>
          <p:cNvPr id="2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760159" y="4702759"/>
            <a:ext cx="241402" cy="241402"/>
          </a:xfrm>
          <a:prstGeom prst="rect">
            <a:avLst/>
          </a:prstGeom>
        </p:spPr>
      </p:pic>
      <p:sp>
        <p:nvSpPr>
          <p:cNvPr id="24" name="Text 21"/>
          <p:cNvSpPr/>
          <p:nvPr/>
        </p:nvSpPr>
        <p:spPr>
          <a:xfrm>
            <a:off x="7315200" y="4526280"/>
            <a:ext cx="41148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just performed the fundamental Git cycle: change → commit. Every AI project in the world is built from thousands of these small commits.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110642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2 • HANDS-ON (25 MIN)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1064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Lab D: Set Up Your Machine &amp; Clone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11091672" cy="960120"/>
          </a:xfrm>
          <a:prstGeom prst="roundRect">
            <a:avLst>
              <a:gd name="adj" fmla="val 7619"/>
            </a:avLst>
          </a:prstGeom>
          <a:solidFill>
            <a:srgbClr val="EAF0FB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1554480"/>
            <a:ext cx="106070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One-time installs (accept all defaults):   </a:t>
            </a:r>
            <a:pPr indent="0" marL="0">
              <a:buNone/>
            </a:pPr>
            <a:r>
              <a:rPr lang="en-US" sz="1450" dirty="0">
                <a:solidFill>
                  <a:srgbClr val="5A5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 → git-scm.com/downloads       VS Code → code.visualstudio.com</a:t>
            </a:r>
            <a:endParaRPr lang="en-US" sz="1450" dirty="0"/>
          </a:p>
        </p:txBody>
      </p:sp>
      <p:sp>
        <p:nvSpPr>
          <p:cNvPr id="6" name="Text 4"/>
          <p:cNvSpPr/>
          <p:nvPr/>
        </p:nvSpPr>
        <p:spPr>
          <a:xfrm>
            <a:off x="548640" y="274320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Clone the course repository into VS Code: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548640" y="3337560"/>
            <a:ext cx="384048" cy="384048"/>
          </a:xfrm>
          <a:prstGeom prst="ellipse">
            <a:avLst/>
          </a:prstGeom>
          <a:solidFill>
            <a:srgbClr val="F96167"/>
          </a:solidFill>
          <a:ln/>
        </p:spPr>
      </p:sp>
      <p:sp>
        <p:nvSpPr>
          <p:cNvPr id="8" name="Text 6"/>
          <p:cNvSpPr/>
          <p:nvPr/>
        </p:nvSpPr>
        <p:spPr>
          <a:xfrm>
            <a:off x="548640" y="33375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1115568" y="3200400"/>
            <a:ext cx="1049731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GitHub, open the course repo, click the green &lt;&gt; Code button, copy the HTTPS URL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548640" y="4160520"/>
            <a:ext cx="384048" cy="384048"/>
          </a:xfrm>
          <a:prstGeom prst="ellipse">
            <a:avLst/>
          </a:prstGeom>
          <a:solidFill>
            <a:srgbClr val="F96167"/>
          </a:solidFill>
          <a:ln/>
        </p:spPr>
      </p:sp>
      <p:sp>
        <p:nvSpPr>
          <p:cNvPr id="11" name="Text 9"/>
          <p:cNvSpPr/>
          <p:nvPr/>
        </p:nvSpPr>
        <p:spPr>
          <a:xfrm>
            <a:off x="548640" y="41605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1115568" y="4023360"/>
            <a:ext cx="1049731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VS Code press Ctrl+Shift+P, type “Git: Clone”, press Enter, paste the URL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548640" y="4983480"/>
            <a:ext cx="384048" cy="384048"/>
          </a:xfrm>
          <a:prstGeom prst="ellipse">
            <a:avLst/>
          </a:prstGeom>
          <a:solidFill>
            <a:srgbClr val="F96167"/>
          </a:solidFill>
          <a:ln/>
        </p:spPr>
      </p:sp>
      <p:sp>
        <p:nvSpPr>
          <p:cNvPr id="14" name="Text 12"/>
          <p:cNvSpPr/>
          <p:nvPr/>
        </p:nvSpPr>
        <p:spPr>
          <a:xfrm>
            <a:off x="548640" y="49834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1115568" y="4846320"/>
            <a:ext cx="1049731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Pick a folder (e.g. Documents/ai-lab) and click Open when VS Code offers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548640" y="5806440"/>
            <a:ext cx="384048" cy="384048"/>
          </a:xfrm>
          <a:prstGeom prst="ellipse">
            <a:avLst/>
          </a:prstGeom>
          <a:solidFill>
            <a:srgbClr val="F96167"/>
          </a:solidFill>
          <a:ln/>
        </p:spPr>
      </p:sp>
      <p:sp>
        <p:nvSpPr>
          <p:cNvPr id="17" name="Text 15"/>
          <p:cNvSpPr/>
          <p:nvPr/>
        </p:nvSpPr>
        <p:spPr>
          <a:xfrm>
            <a:off x="548640" y="58064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1115568" y="5669280"/>
            <a:ext cx="1049731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Repeat for your own my-first-ai-lab repo — both projects are now on your machine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548640" y="6172200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2E8B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Success check: the Explorer panel shows the repo's files, and the bottom bar shows the branch name “main”.</a:t>
            </a:r>
            <a:endParaRPr lang="en-US" sz="12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110642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2 • HANDS-ON (30 MIN)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1064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Lab E: Your First Cloud Notebook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933956"/>
            <a:ext cx="384048" cy="384048"/>
          </a:xfrm>
          <a:prstGeom prst="ellipse">
            <a:avLst/>
          </a:prstGeom>
          <a:solidFill>
            <a:srgbClr val="F96167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93395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1115568" y="1691640"/>
            <a:ext cx="501091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colab.research.google.com and sign in with a Google account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48640" y="2967228"/>
            <a:ext cx="384048" cy="384048"/>
          </a:xfrm>
          <a:prstGeom prst="ellipse">
            <a:avLst/>
          </a:prstGeom>
          <a:solidFill>
            <a:srgbClr val="F96167"/>
          </a:solidFill>
          <a:ln/>
        </p:spPr>
      </p:sp>
      <p:sp>
        <p:nvSpPr>
          <p:cNvPr id="8" name="Text 6"/>
          <p:cNvSpPr/>
          <p:nvPr/>
        </p:nvSpPr>
        <p:spPr>
          <a:xfrm>
            <a:off x="548640" y="296722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1115568" y="2724912"/>
            <a:ext cx="501091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 → Open notebook → GitHub → paste the course repo URL → open day1_starter.ipynb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548640" y="4000500"/>
            <a:ext cx="384048" cy="384048"/>
          </a:xfrm>
          <a:prstGeom prst="ellipse">
            <a:avLst/>
          </a:prstGeom>
          <a:solidFill>
            <a:srgbClr val="F96167"/>
          </a:solidFill>
          <a:ln/>
        </p:spPr>
      </p:sp>
      <p:sp>
        <p:nvSpPr>
          <p:cNvPr id="11" name="Text 9"/>
          <p:cNvSpPr/>
          <p:nvPr/>
        </p:nvSpPr>
        <p:spPr>
          <a:xfrm>
            <a:off x="548640" y="40005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1115568" y="3758184"/>
            <a:ext cx="501091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each cell with the play button (or Ctrl+Enter)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548640" y="5033772"/>
            <a:ext cx="384048" cy="384048"/>
          </a:xfrm>
          <a:prstGeom prst="ellipse">
            <a:avLst/>
          </a:prstGeom>
          <a:solidFill>
            <a:srgbClr val="F96167"/>
          </a:solidFill>
          <a:ln/>
        </p:spPr>
      </p:sp>
      <p:sp>
        <p:nvSpPr>
          <p:cNvPr id="14" name="Text 12"/>
          <p:cNvSpPr/>
          <p:nvPr/>
        </p:nvSpPr>
        <p:spPr>
          <a:xfrm>
            <a:off x="548640" y="503377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1115568" y="4791456"/>
            <a:ext cx="501091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Runtime → Change runtime type → T4 GPU — you just rented a GPU in two clicks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6400800" y="1691640"/>
            <a:ext cx="5212080" cy="3977640"/>
          </a:xfrm>
          <a:prstGeom prst="roundRect">
            <a:avLst>
              <a:gd name="adj" fmla="val 1379"/>
            </a:avLst>
          </a:prstGeom>
          <a:solidFill>
            <a:srgbClr val="F2F3F7"/>
          </a:solidFill>
          <a:ln w="12700">
            <a:solidFill>
              <a:srgbClr val="D8DBE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583680" y="1801368"/>
            <a:ext cx="4846320" cy="3758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2327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Cell 1 — hello, cloud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2327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print("Hello from Google Colab!")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2327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Cell 2 — what hardware did we get?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2327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 multiprocessing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2327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print("CPU cores:",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2327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multiprocessing.cpu_count())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2327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Cell 3 — load the class dataset from GitHub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2327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 pandas as pd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2327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url = "https://raw.githubusercontent.com/" \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2327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"&lt;course-repo&gt;/main/data/soldiers_fitness.csv"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2327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 = pd.read_csv(url)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2327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df.head()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548640" y="6035040"/>
            <a:ext cx="11064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A5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code runs on Google's cloud, not your laptop — cloud computing from Session 1, now in your hands.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110642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2 • CHECKPOINT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1064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Before the Break — Check Your Work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1627632"/>
            <a:ext cx="457200" cy="457200"/>
          </a:xfrm>
          <a:prstGeom prst="ellipse">
            <a:avLst/>
          </a:prstGeom>
          <a:solidFill>
            <a:srgbClr val="2E8B57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58952" y="1746504"/>
            <a:ext cx="219456" cy="219456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298448" y="1627632"/>
            <a:ext cx="10332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have a GitHub account and can sign in</a:t>
            </a:r>
            <a:endParaRPr lang="en-US" sz="1600" dirty="0"/>
          </a:p>
        </p:txBody>
      </p:sp>
      <p:sp>
        <p:nvSpPr>
          <p:cNvPr id="7" name="Shape 4"/>
          <p:cNvSpPr/>
          <p:nvPr/>
        </p:nvSpPr>
        <p:spPr>
          <a:xfrm>
            <a:off x="640080" y="2340864"/>
            <a:ext cx="457200" cy="457200"/>
          </a:xfrm>
          <a:prstGeom prst="ellipse">
            <a:avLst/>
          </a:prstGeom>
          <a:solidFill>
            <a:srgbClr val="2E8B57"/>
          </a:solidFill>
          <a:ln/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8952" y="2459736"/>
            <a:ext cx="219456" cy="219456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298448" y="2340864"/>
            <a:ext cx="10332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 repository my-first-ai-lab is public and has a README</a:t>
            </a:r>
            <a:endParaRPr lang="en-US" sz="1600" dirty="0"/>
          </a:p>
        </p:txBody>
      </p:sp>
      <p:sp>
        <p:nvSpPr>
          <p:cNvPr id="10" name="Shape 6"/>
          <p:cNvSpPr/>
          <p:nvPr/>
        </p:nvSpPr>
        <p:spPr>
          <a:xfrm>
            <a:off x="640080" y="3054096"/>
            <a:ext cx="457200" cy="457200"/>
          </a:xfrm>
          <a:prstGeom prst="ellipse">
            <a:avLst/>
          </a:prstGeom>
          <a:solidFill>
            <a:srgbClr val="2E8B57"/>
          </a:solidFill>
          <a:ln/>
        </p:spPr>
      </p:sp>
      <p:pic>
        <p:nvPicPr>
          <p:cNvPr id="1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8952" y="3172968"/>
            <a:ext cx="219456" cy="219456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1298448" y="3054096"/>
            <a:ext cx="10332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data/soldiers_fitness.csv is committed and displays as a table</a:t>
            </a:r>
            <a:endParaRPr lang="en-US" sz="1600" dirty="0"/>
          </a:p>
        </p:txBody>
      </p:sp>
      <p:sp>
        <p:nvSpPr>
          <p:cNvPr id="13" name="Shape 8"/>
          <p:cNvSpPr/>
          <p:nvPr/>
        </p:nvSpPr>
        <p:spPr>
          <a:xfrm>
            <a:off x="640080" y="3767328"/>
            <a:ext cx="457200" cy="457200"/>
          </a:xfrm>
          <a:prstGeom prst="ellipse">
            <a:avLst/>
          </a:prstGeom>
          <a:solidFill>
            <a:srgbClr val="2E8B57"/>
          </a:solidFill>
          <a:ln/>
        </p:spPr>
      </p:sp>
      <p:pic>
        <p:nvPicPr>
          <p:cNvPr id="1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8952" y="3886200"/>
            <a:ext cx="219456" cy="219456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1298448" y="3767328"/>
            <a:ext cx="10332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 and VS Code are installed on my machine</a:t>
            </a:r>
            <a:endParaRPr lang="en-US" sz="1600" dirty="0"/>
          </a:p>
        </p:txBody>
      </p:sp>
      <p:sp>
        <p:nvSpPr>
          <p:cNvPr id="16" name="Shape 10"/>
          <p:cNvSpPr/>
          <p:nvPr/>
        </p:nvSpPr>
        <p:spPr>
          <a:xfrm>
            <a:off x="640080" y="4480560"/>
            <a:ext cx="457200" cy="457200"/>
          </a:xfrm>
          <a:prstGeom prst="ellipse">
            <a:avLst/>
          </a:prstGeom>
          <a:solidFill>
            <a:srgbClr val="2E8B57"/>
          </a:solidFill>
          <a:ln/>
        </p:spPr>
      </p:sp>
      <p:pic>
        <p:nvPicPr>
          <p:cNvPr id="17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58952" y="4599432"/>
            <a:ext cx="219456" cy="219456"/>
          </a:xfrm>
          <a:prstGeom prst="rect">
            <a:avLst/>
          </a:prstGeom>
        </p:spPr>
      </p:pic>
      <p:sp>
        <p:nvSpPr>
          <p:cNvPr id="18" name="Text 11"/>
          <p:cNvSpPr/>
          <p:nvPr/>
        </p:nvSpPr>
        <p:spPr>
          <a:xfrm>
            <a:off x="1298448" y="4480560"/>
            <a:ext cx="10332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cloned both the course repo and my own repo into VS Code</a:t>
            </a:r>
            <a:endParaRPr lang="en-US" sz="1600" dirty="0"/>
          </a:p>
        </p:txBody>
      </p:sp>
      <p:sp>
        <p:nvSpPr>
          <p:cNvPr id="19" name="Shape 12"/>
          <p:cNvSpPr/>
          <p:nvPr/>
        </p:nvSpPr>
        <p:spPr>
          <a:xfrm>
            <a:off x="640080" y="5193792"/>
            <a:ext cx="457200" cy="457200"/>
          </a:xfrm>
          <a:prstGeom prst="ellipse">
            <a:avLst/>
          </a:prstGeom>
          <a:solidFill>
            <a:srgbClr val="2E8B57"/>
          </a:solidFill>
          <a:ln/>
        </p:spPr>
      </p:sp>
      <p:pic>
        <p:nvPicPr>
          <p:cNvPr id="20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58952" y="5312664"/>
            <a:ext cx="219456" cy="219456"/>
          </a:xfrm>
          <a:prstGeom prst="rect">
            <a:avLst/>
          </a:prstGeom>
        </p:spPr>
      </p:pic>
      <p:sp>
        <p:nvSpPr>
          <p:cNvPr id="21" name="Text 13"/>
          <p:cNvSpPr/>
          <p:nvPr/>
        </p:nvSpPr>
        <p:spPr>
          <a:xfrm>
            <a:off x="1298448" y="5193792"/>
            <a:ext cx="10332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ran the Colab starter notebook and switched to a GPU runtime</a:t>
            </a:r>
            <a:endParaRPr lang="en-US" sz="1600" dirty="0"/>
          </a:p>
        </p:txBody>
      </p:sp>
      <p:sp>
        <p:nvSpPr>
          <p:cNvPr id="22" name="Text 14"/>
          <p:cNvSpPr/>
          <p:nvPr/>
        </p:nvSpPr>
        <p:spPr>
          <a:xfrm>
            <a:off x="548640" y="6291072"/>
            <a:ext cx="11064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A5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any box is unticked, flag a trainer now — Session 4 builds directly on all of these.</a:t>
            </a:r>
            <a:endParaRPr lang="en-US" sz="13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052560" y="-2194560"/>
            <a:ext cx="6217920" cy="6217920"/>
          </a:xfrm>
          <a:prstGeom prst="ellipse">
            <a:avLst/>
          </a:prstGeom>
          <a:solidFill>
            <a:srgbClr val="2A3A8C">
              <a:alpha val="60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777240" y="640080"/>
            <a:ext cx="10607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spc="300" kern="0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2 — THREE IDEAS TO CARRY FORWARD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777240" y="1280160"/>
            <a:ext cx="9144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2A3A8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5400" dirty="0"/>
          </a:p>
        </p:txBody>
      </p:sp>
      <p:sp>
        <p:nvSpPr>
          <p:cNvPr id="5" name="Text 3"/>
          <p:cNvSpPr/>
          <p:nvPr/>
        </p:nvSpPr>
        <p:spPr>
          <a:xfrm>
            <a:off x="1783080" y="1353312"/>
            <a:ext cx="9601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cycle, endlessly repeated</a:t>
            </a:r>
            <a:endParaRPr lang="en-US" sz="2100" dirty="0"/>
          </a:p>
        </p:txBody>
      </p:sp>
      <p:sp>
        <p:nvSpPr>
          <p:cNvPr id="6" name="Text 4"/>
          <p:cNvSpPr/>
          <p:nvPr/>
        </p:nvSpPr>
        <p:spPr>
          <a:xfrm>
            <a:off x="1783080" y="1792224"/>
            <a:ext cx="95097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Change a file → commit with a message → push. Every AI project on earth is built from thousands of these.</a:t>
            </a:r>
            <a:endParaRPr lang="en-US" sz="1450" dirty="0"/>
          </a:p>
        </p:txBody>
      </p:sp>
      <p:sp>
        <p:nvSpPr>
          <p:cNvPr id="7" name="Text 5"/>
          <p:cNvSpPr/>
          <p:nvPr/>
        </p:nvSpPr>
        <p:spPr>
          <a:xfrm>
            <a:off x="777240" y="2542032"/>
            <a:ext cx="9144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2A3A8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5400" dirty="0"/>
          </a:p>
        </p:txBody>
      </p:sp>
      <p:sp>
        <p:nvSpPr>
          <p:cNvPr id="8" name="Text 6"/>
          <p:cNvSpPr/>
          <p:nvPr/>
        </p:nvSpPr>
        <p:spPr>
          <a:xfrm>
            <a:off x="1783080" y="2615184"/>
            <a:ext cx="9601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repo is your evidence</a:t>
            </a:r>
            <a:endParaRPr lang="en-US" sz="2100" dirty="0"/>
          </a:p>
        </p:txBody>
      </p:sp>
      <p:sp>
        <p:nvSpPr>
          <p:cNvPr id="9" name="Text 7"/>
          <p:cNvSpPr/>
          <p:nvPr/>
        </p:nvSpPr>
        <p:spPr>
          <a:xfrm>
            <a:off x="1783080" y="3054096"/>
            <a:ext cx="95097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Trainers track progress by opening your GitHub. Work that isn't committed effectively didn't happen.</a:t>
            </a:r>
            <a:endParaRPr lang="en-US" sz="1450" dirty="0"/>
          </a:p>
        </p:txBody>
      </p:sp>
      <p:sp>
        <p:nvSpPr>
          <p:cNvPr id="10" name="Text 8"/>
          <p:cNvSpPr/>
          <p:nvPr/>
        </p:nvSpPr>
        <p:spPr>
          <a:xfrm>
            <a:off x="777240" y="3803904"/>
            <a:ext cx="9144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2A3A8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5400" dirty="0"/>
          </a:p>
        </p:txBody>
      </p:sp>
      <p:sp>
        <p:nvSpPr>
          <p:cNvPr id="11" name="Text 9"/>
          <p:cNvSpPr/>
          <p:nvPr/>
        </p:nvSpPr>
        <p:spPr>
          <a:xfrm>
            <a:off x="1783080" y="3877056"/>
            <a:ext cx="9601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cloud is already yours</a:t>
            </a:r>
            <a:endParaRPr lang="en-US" sz="2100" dirty="0"/>
          </a:p>
        </p:txBody>
      </p:sp>
      <p:sp>
        <p:nvSpPr>
          <p:cNvPr id="12" name="Text 10"/>
          <p:cNvSpPr/>
          <p:nvPr/>
        </p:nvSpPr>
        <p:spPr>
          <a:xfrm>
            <a:off x="1783080" y="4315968"/>
            <a:ext cx="95097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Colab gave you a free machine and a free GPU in two clicks — the same idea AWS and Azure sell at scale on Days 2–3.</a:t>
            </a:r>
            <a:endParaRPr lang="en-US" sz="1450" dirty="0"/>
          </a:p>
        </p:txBody>
      </p:sp>
      <p:sp>
        <p:nvSpPr>
          <p:cNvPr id="13" name="Shape 11"/>
          <p:cNvSpPr/>
          <p:nvPr/>
        </p:nvSpPr>
        <p:spPr>
          <a:xfrm>
            <a:off x="777240" y="5257800"/>
            <a:ext cx="10607040" cy="1051560"/>
          </a:xfrm>
          <a:prstGeom prst="roundRect">
            <a:avLst>
              <a:gd name="adj" fmla="val 8696"/>
            </a:avLst>
          </a:prstGeom>
          <a:solidFill>
            <a:srgbClr val="2A3A8C"/>
          </a:solidFill>
          <a:ln/>
        </p:spPr>
      </p:sp>
      <p:sp>
        <p:nvSpPr>
          <p:cNvPr id="14" name="Text 12"/>
          <p:cNvSpPr/>
          <p:nvPr/>
        </p:nvSpPr>
        <p:spPr>
          <a:xfrm>
            <a:off x="1051560" y="5257800"/>
            <a:ext cx="100584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— Session 3 (13:45):  </a:t>
            </a:r>
            <a:pPr indent="0" marL="0">
              <a:buNone/>
            </a:pPr>
            <a:r>
              <a:rPr lang="en-US" sz="14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Hugging Face. Over a million pretrained models, free to use — and how to run state-of-the-art AI in three lines of Python.</a:t>
            </a:r>
            <a:endParaRPr lang="en-US" sz="14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2026-07-19T13:40:46Z</dcterms:created>
  <dcterms:modified xsi:type="dcterms:W3CDTF">2026-07-19T13:40:46Z</dcterms:modified>
</cp:coreProperties>
</file>